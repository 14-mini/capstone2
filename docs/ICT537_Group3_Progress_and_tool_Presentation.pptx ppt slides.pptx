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2E2A1E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lang="en-AU" sz="1200" b="0" i="0" u="none" strike="noStrike">
                <a:solidFill>
                  <a:srgbClr val="2E2A1E"/>
                </a:solidFill>
                <a:latin typeface="Calibri" panose="020F0502020204030204"/>
              </a:rPr>
              <a:t>Actual Performance by Model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Isolation Forest</c:v>
                </c:pt>
              </c:strCache>
            </c:strRef>
          </c:tx>
          <c:spPr>
            <a:solidFill>
              <a:srgbClr val="3A573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50" b="0" i="0" u="none" strike="noStrike" kern="1200" baseline="0">
                    <a:solidFill>
                      <a:srgbClr val="2E2A1E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</c:v>
                </c:pt>
                <c:pt idx="1">
                  <c:v>82</c:v>
                </c:pt>
                <c:pt idx="2">
                  <c:v>97</c:v>
                </c:pt>
                <c:pt idx="3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DB-43E1-8555-805B4A0B63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201C1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50" b="0" i="0" u="none" strike="noStrike" kern="1200" baseline="0">
                    <a:solidFill>
                      <a:srgbClr val="2E2A1E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</c:v>
                </c:pt>
                <c:pt idx="1">
                  <c:v>81</c:v>
                </c:pt>
                <c:pt idx="2">
                  <c:v>86</c:v>
                </c:pt>
                <c:pt idx="3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DB-43E1-8555-805B4A0B63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B5A42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rgbClr val="E8DF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rgbClr val="6B5A42"/>
                </a:solidFill>
                <a:latin typeface="Arial" panose="020B06040202020202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rgbClr val="2E2A1E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75ee97a-a476-4735-b947-c4bf2737324b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C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1737360" y="4572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2926080" y="4572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114800" y="4572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5303520" y="4572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6492240" y="4572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7680960" y="4572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8869680" y="4572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0058400" y="4572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11247120" y="4572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3048" y="5052060"/>
            <a:ext cx="12188952" cy="1783080"/>
          </a:xfrm>
          <a:prstGeom prst="rect">
            <a:avLst/>
          </a:prstGeom>
          <a:solidFill>
            <a:srgbClr val="4A3C28"/>
          </a:solidFill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— CAPSTONE PROJECT 1  |  WEEK 7 PROGRESS UPDATE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Failed Login and Attack Type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Analysis Using Artificial Intelligence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" y="4160520"/>
            <a:ext cx="9692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Detecting anomalous logins and classifying cyberattack types with Isolation Forest and Random Forest, trained on a 16,000-event stratified sample drawn from 33M+ real-world authentication events.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2852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Group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A4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Gateway Business College  | 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5285232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Sabin Twayana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35040" y="5541264"/>
            <a:ext cx="10999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A4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Leader — System Designer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79688" y="5285232"/>
            <a:ext cx="2687271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Santosh Phuyal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39486" y="5541264"/>
            <a:ext cx="1074199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A4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 — ML Developer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18191" y="5285232"/>
            <a:ext cx="268727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Nayan Chaudhary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75324" y="5541264"/>
            <a:ext cx="99163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FA47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 — Data Analyst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61264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Sabira Khatun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Growing Authentication Threat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3D3220">
                <a:alpha val="1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463040" y="1929384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Escalating threats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258568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Brute force, credential stuffing, dictionary attacks and account takeovers are growing in scale and sophistication.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3D3220">
                <a:alpha val="1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502920" cy="502920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446520" y="20116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7132320" y="1929384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Legacy limits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258568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Rule-based IDS and manual log review can't keep pace with today's volume or evolving attack patterns.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3D3220">
                <a:alpha val="1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777240" y="3319272"/>
            <a:ext cx="502920" cy="502920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777240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1463040" y="3236976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overload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566160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teams face too many authentication log events daily to review in real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090672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3D3220">
                <a:alpha val="1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6446520" y="3319272"/>
            <a:ext cx="502920" cy="502920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6446520" y="3319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7132320" y="3236976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Critical gap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3566160"/>
            <a:ext cx="42519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intelligent, automated system exists to detect suspicious logons and classify attack type without human review.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822960" y="5532120"/>
            <a:ext cx="10607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proposed solution: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 system using Isolation Forest (unsupervised anomaly detection) and Random Forest (supervised multi-class attack classification), trained on Kaggle's Risk-Based Authentication dataset — 33M+ real login attempts from a Norwegian SSO service.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· Capstone Project 1 · Group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Existing Approaches Fall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3D3220">
                <a:alpha val="1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3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organisation generates millions of authentication events daily — far more than analysts can review.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3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Static, rule-based monitoring cannot recognise new or multi-stage attack methods, and does not scale to real-time analysis.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76672" cy="4160520"/>
          </a:xfrm>
          <a:prstGeom prst="roundRect">
            <a:avLst>
              <a:gd name="adj" fmla="val 2198"/>
            </a:avLst>
          </a:prstGeom>
          <a:solidFill>
            <a:srgbClr val="201C13"/>
          </a:solidFill>
          <a:effectLst>
            <a:outerShdw blurRad="76200" dist="25400" dir="5400000" algn="bl" rotWithShape="0">
              <a:srgbClr val="3D3220">
                <a:alpha val="1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MISMATCH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423160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intrusion datasets analyse network traffic, not authentication-specific login behaviour.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3794760"/>
            <a:ext cx="480060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lack login flags, user IDs, timestamps and device fingerprints needed to tell brute force, credential stuffing, dictionary attacks and account takeovers apart from legitimate logins.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closes the gap </a:t>
            </a:r>
            <a:r>
              <a:rPr lang="en-US" sz="1250" i="1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applying purpose-built behavioural feature engineering to authentication-level log data.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· Capstone Project 1 · Group 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AIMS &amp;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Project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6070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AIM   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Design, develop and prototype an AI system that automatically identifies anomalous authentication activity and classifies it by cyberattack type — improving cybersecurity monitoring in time, cost and scalability.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82112"/>
            <a:ext cx="329184" cy="329184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548640" y="318211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10" dirty="0"/>
          </a:p>
        </p:txBody>
      </p:sp>
      <p:sp>
        <p:nvSpPr>
          <p:cNvPr id="9" name="Text 7"/>
          <p:cNvSpPr/>
          <p:nvPr/>
        </p:nvSpPr>
        <p:spPr>
          <a:xfrm>
            <a:off x="1005840" y="3145536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 11 key behavioural features from raw RBA login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12464"/>
            <a:ext cx="329184" cy="329184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48640" y="371246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1005840" y="3675888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Derive 5 attack-type class labels via heuristic labelling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42816"/>
            <a:ext cx="329184" cy="329184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48640" y="42428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1005840" y="420624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unsupervised (Isolation Forest) vs supervised (Random Forest, k=5 CV) model fit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329184" cy="329184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548640" y="477316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1005840" y="4736592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both models on a stratified 15% test set (Accuracy, Precision, Recall, F1, ROC-AUC)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329184" cy="329184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48640" y="53035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1005840" y="5266944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FastAPI server + Streamlit dashboard for live alerts, country distribution and trend charts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8346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3182112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D322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6720840" y="3182112"/>
            <a:ext cx="47548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how different cyberattack types can be identified using ML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4050792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D322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6720840" y="4050792"/>
            <a:ext cx="47548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Hands-on scikit-learn: feature engineering, class imbalance (SMOTE), ensembles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4919472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D322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6720840" y="4919472"/>
            <a:ext cx="47548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real-world APIs (FastAPI), visualise data (Streamlit), manage projects (Trello)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· Capstone Project 1 · Group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JUSTIFICATION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UNSW-NB15 vs RBA Dataset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783080"/>
          <a:ext cx="11091672" cy="384048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9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9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Criteria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UNSW-NB15 (Original)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RBA Dataset (Selected)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1C1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5A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Focus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5A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General network intrusion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A1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Authentication-specific login attacks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5A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Records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5A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~2.54M packet/flow records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A1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&gt;33M login attempt records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5A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Login outcome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5A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available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A1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Login_Successful flag per event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5A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Attack labels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5A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 general network categories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A1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Is_Attack_IP + Is_Account_Takeover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5A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 engineering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5A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fail_count / velocity not derivable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A1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All 11 required features derivable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5A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Project alignment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6B5A42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— lacks auth context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A1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 — models login attacks directly</a:t>
                      </a:r>
                      <a:endPara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 offers 15 authentication-specific features across &gt;33M attempts, directly supporting all 11 engineered features this project requires.</a:t>
            </a:r>
            <a:endParaRPr lang="en-US" sz="1100" dirty="0"/>
          </a:p>
        </p:txBody>
      </p:sp>
      <p:sp>
        <p:nvSpPr>
          <p:cNvPr id="4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· Capstone Project 1 · Group 3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RBA Dataset — Key Attributes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33M+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attempts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3337560" y="187452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3.3M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54203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SSO subscribers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126480" y="187452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54203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Features / attempt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783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8915400" y="187452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54203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Stratified prototype sample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777240" y="342900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0" y="34290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 – das-group (Wiefling et al., 2022, ACM TOPS)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873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777240" y="4087368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Collection period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00400" y="4087368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Feb 2020 – Feb 2021, Norway SSO service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74573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777240" y="474573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labels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0" y="4745736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Is_Attack_IP and Is_Account_Takeover ground-truth flags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4041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777240" y="5404104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Licence &amp; access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0" y="5404104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CC BY 4.0 open access — kaggle.com/datasets/dasgroup/rba-dataset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· Capstone Project 1 · Group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 Behavioural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201C13"/>
          </a:solidFill>
          <a:effectLst>
            <a:outerShdw blurRad="63500" dist="25400" dir="5400000" algn="bl" rotWithShape="0">
              <a:srgbClr val="3D3220">
                <a:alpha val="1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384048" cy="384048"/>
          </a:xfrm>
          <a:prstGeom prst="ellipse">
            <a:avLst/>
          </a:prstGeom>
          <a:noFill/>
          <a:ln w="12700">
            <a:solidFill>
              <a:srgbClr val="4B6B3A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5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75" dirty="0"/>
          </a:p>
        </p:txBody>
      </p:sp>
      <p:sp>
        <p:nvSpPr>
          <p:cNvPr id="7" name="Text 5"/>
          <p:cNvSpPr/>
          <p:nvPr/>
        </p:nvSpPr>
        <p:spPr>
          <a:xfrm>
            <a:off x="713232" y="2468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Time_of_Day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83464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Hour of login; flags off-hours activity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17830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201C13"/>
          </a:solidFill>
          <a:effectLst>
            <a:outerShdw blurRad="63500" dist="25400" dir="5400000" algn="bl" rotWithShape="0">
              <a:srgbClr val="3D3220">
                <a:alpha val="1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3593592" y="1965960"/>
            <a:ext cx="384048" cy="384048"/>
          </a:xfrm>
          <a:prstGeom prst="ellipse">
            <a:avLst/>
          </a:prstGeom>
          <a:noFill/>
          <a:ln w="12700">
            <a:solidFill>
              <a:srgbClr val="4B6B3A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3593592" y="1965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5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75" dirty="0"/>
          </a:p>
        </p:txBody>
      </p:sp>
      <p:sp>
        <p:nvSpPr>
          <p:cNvPr id="12" name="Text 10"/>
          <p:cNvSpPr/>
          <p:nvPr/>
        </p:nvSpPr>
        <p:spPr>
          <a:xfrm>
            <a:off x="3575304" y="2468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IP_Reputation_Score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75304" y="283464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 Is_Attack_IP per IP address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17830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201C13"/>
          </a:solidFill>
          <a:effectLst>
            <a:outerShdw blurRad="63500" dist="25400" dir="5400000" algn="bl" rotWithShape="0">
              <a:srgbClr val="3D3220">
                <a:alpha val="1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6455664" y="1965960"/>
            <a:ext cx="384048" cy="384048"/>
          </a:xfrm>
          <a:prstGeom prst="ellipse">
            <a:avLst/>
          </a:prstGeom>
          <a:noFill/>
          <a:ln w="12700">
            <a:solidFill>
              <a:srgbClr val="4B6B3A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6455664" y="1965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5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75" dirty="0"/>
          </a:p>
        </p:txBody>
      </p:sp>
      <p:sp>
        <p:nvSpPr>
          <p:cNvPr id="17" name="Text 15"/>
          <p:cNvSpPr/>
          <p:nvPr/>
        </p:nvSpPr>
        <p:spPr>
          <a:xfrm>
            <a:off x="6437376" y="2468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Geo_Anomaly_Flag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37376" y="283464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from a country outside the user's norm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4856" y="17830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201C13"/>
          </a:solidFill>
          <a:effectLst>
            <a:outerShdw blurRad="63500" dist="25400" dir="5400000" algn="bl" rotWithShape="0">
              <a:srgbClr val="3D3220">
                <a:alpha val="1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9317736" y="1965960"/>
            <a:ext cx="384048" cy="384048"/>
          </a:xfrm>
          <a:prstGeom prst="ellipse">
            <a:avLst/>
          </a:prstGeom>
          <a:noFill/>
          <a:ln w="12700">
            <a:solidFill>
              <a:srgbClr val="4B6B3A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9317736" y="1965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5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75" dirty="0"/>
          </a:p>
        </p:txBody>
      </p:sp>
      <p:sp>
        <p:nvSpPr>
          <p:cNvPr id="22" name="Text 20"/>
          <p:cNvSpPr/>
          <p:nvPr/>
        </p:nvSpPr>
        <p:spPr>
          <a:xfrm>
            <a:off x="9299448" y="2468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Unique_Usernames_5min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299448" y="283464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Distinct user IDs from one IP in 5 min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D3220">
                <a:alpha val="1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3"/>
          <p:cNvSpPr/>
          <p:nvPr/>
        </p:nvSpPr>
        <p:spPr>
          <a:xfrm>
            <a:off x="731520" y="3749040"/>
            <a:ext cx="384048" cy="384048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731520" y="3749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5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75" dirty="0"/>
          </a:p>
        </p:txBody>
      </p:sp>
      <p:sp>
        <p:nvSpPr>
          <p:cNvPr id="27" name="Text 25"/>
          <p:cNvSpPr/>
          <p:nvPr/>
        </p:nvSpPr>
        <p:spPr>
          <a:xfrm>
            <a:off x="713232" y="4251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Fail_Count_1min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3232" y="461772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Failed logins from an IP in the last 60s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10712" y="35661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D3220">
                <a:alpha val="1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3593592" y="3749040"/>
            <a:ext cx="384048" cy="384048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3593592" y="3749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5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75" dirty="0"/>
          </a:p>
        </p:txBody>
      </p:sp>
      <p:sp>
        <p:nvSpPr>
          <p:cNvPr id="32" name="Text 30"/>
          <p:cNvSpPr/>
          <p:nvPr/>
        </p:nvSpPr>
        <p:spPr>
          <a:xfrm>
            <a:off x="3575304" y="4251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Fail_Count_5min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575304" y="461772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Failed logins from an IP over 5 minutes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72784" y="35661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D3220">
                <a:alpha val="13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6455664" y="3749040"/>
            <a:ext cx="384048" cy="384048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6455664" y="37490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5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75" dirty="0"/>
          </a:p>
        </p:txBody>
      </p:sp>
      <p:sp>
        <p:nvSpPr>
          <p:cNvPr id="37" name="Text 35"/>
          <p:cNvSpPr/>
          <p:nvPr/>
        </p:nvSpPr>
        <p:spPr>
          <a:xfrm>
            <a:off x="6437376" y="42519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Rolling_Fail_Velocity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37376" y="461772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Failures per minute, rolled over 10 min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134856" y="356616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3A5730"/>
          </a:solidFill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9317736" y="3730752"/>
            <a:ext cx="2331720" cy="1271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also uses login_success_rate_1min, time_since_last_login, fail_to_success_ratio_5min, is_new_device — not present in raw RBA data.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· Capstone Project 1 · Group 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HEURISTIC LABELLING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Binary Flags to 5 Attack Classes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 provides only binary labels (Is_Attack_IP, Is_Account_Takeover). Domain-aware heuristics on engineered features derive 5 attack classes: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09728" cy="640080"/>
          </a:xfrm>
          <a:prstGeom prst="roundRect">
            <a:avLst/>
          </a:prstGeom>
          <a:solidFill>
            <a:srgbClr val="B5533C"/>
          </a:solidFill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Account Takeover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749040" y="224028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A4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Is_Account_Takeover = True, OR Geo_Anomaly_Flag + Time_Gap &gt; 24h + New_Device + Success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09728" cy="640080"/>
          </a:xfrm>
          <a:prstGeom prst="roundRect">
            <a:avLst/>
          </a:prstGeom>
          <a:solidFill>
            <a:srgbClr val="C98A3E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Credential Stuffing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749040" y="301752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A4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Unique_Usernames_5min ≥ 6 AND Fail_Count_5min ≥ 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09728" cy="640080"/>
          </a:xfrm>
          <a:prstGeom prst="roundRect">
            <a:avLst/>
          </a:prstGeom>
          <a:solidFill>
            <a:srgbClr val="3A5730"/>
          </a:solidFill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68680" y="379476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Brute Force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49040" y="379476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A4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Fail_Count_1min ≥ 3 AND Unique_Usernames_5min ≤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109728" cy="640080"/>
          </a:xfrm>
          <a:prstGeom prst="roundRect">
            <a:avLst/>
          </a:prstGeom>
          <a:solidFill>
            <a:srgbClr val="7A6B3E"/>
          </a:solidFill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868680" y="45720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Dictionary Attack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749040" y="457200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A4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Fail_Count_5min ≥ 3 AND Fail_Count_1min ≤ 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09728" cy="640080"/>
          </a:xfrm>
          <a:prstGeom prst="roundRect">
            <a:avLst/>
          </a:prstGeom>
          <a:solidFill>
            <a:srgbClr val="5C7A3E"/>
          </a:solidFill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868680" y="53492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Normal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749040" y="5349240"/>
            <a:ext cx="7680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A4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All other events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· Capstone Project 1 · Group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7-Stage 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466959" cy="3566160"/>
          </a:xfrm>
          <a:prstGeom prst="roundRect">
            <a:avLst>
              <a:gd name="adj" fmla="val 4987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466959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2606040"/>
            <a:ext cx="132065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284079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 RBA data; sample 16,000 rows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1997311" y="35204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152759" y="1965960"/>
            <a:ext cx="1466959" cy="3566160"/>
          </a:xfrm>
          <a:prstGeom prst="roundRect">
            <a:avLst>
              <a:gd name="adj" fmla="val 4987"/>
            </a:avLst>
          </a:prstGeom>
          <a:solidFill>
            <a:srgbClr val="4A3C28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2152759" y="2103120"/>
            <a:ext cx="1466959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25911" y="2606040"/>
            <a:ext cx="132065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4199" y="3337560"/>
            <a:ext cx="1284079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Standardise columns, fix data types, dedupe, clip outliers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3601430" y="35204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56878" y="1965960"/>
            <a:ext cx="1466959" cy="3566160"/>
          </a:xfrm>
          <a:prstGeom prst="roundRect">
            <a:avLst>
              <a:gd name="adj" fmla="val 4987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756878" y="2103120"/>
            <a:ext cx="1466959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30030" y="2606040"/>
            <a:ext cx="132065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8318" y="3337560"/>
            <a:ext cx="1284079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Derive the 11 behavioural features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205549" y="35204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360997" y="1965960"/>
            <a:ext cx="1466959" cy="3566160"/>
          </a:xfrm>
          <a:prstGeom prst="roundRect">
            <a:avLst>
              <a:gd name="adj" fmla="val 4987"/>
            </a:avLst>
          </a:prstGeom>
          <a:solidFill>
            <a:srgbClr val="4A3C28"/>
          </a:solidFill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360997" y="2103120"/>
            <a:ext cx="1466959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434149" y="2606040"/>
            <a:ext cx="132065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Imbalance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52437" y="3337560"/>
            <a:ext cx="1284079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Heuristic labelling + SMOTE oversampling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6809667" y="35204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965115" y="1965960"/>
            <a:ext cx="1466959" cy="3566160"/>
          </a:xfrm>
          <a:prstGeom prst="roundRect">
            <a:avLst>
              <a:gd name="adj" fmla="val 4987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6965115" y="2103120"/>
            <a:ext cx="1466959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38267" y="2606040"/>
            <a:ext cx="132065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Training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56555" y="3337560"/>
            <a:ext cx="1284079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Isolation Forest (unsupervised) + Random Forest (5-fold CV)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8413786" y="35204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569234" y="1965960"/>
            <a:ext cx="1466959" cy="3566160"/>
          </a:xfrm>
          <a:prstGeom prst="roundRect">
            <a:avLst>
              <a:gd name="adj" fmla="val 4987"/>
            </a:avLst>
          </a:prstGeom>
          <a:solidFill>
            <a:srgbClr val="4A3C28"/>
          </a:solidFill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8569234" y="2103120"/>
            <a:ext cx="1466959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42386" y="2606040"/>
            <a:ext cx="132065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Evaluation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60674" y="3337560"/>
            <a:ext cx="1284079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70/15/15 stratified split; tune threshold on validation set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10017905" y="352044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0173353" y="1965960"/>
            <a:ext cx="1466959" cy="3566160"/>
          </a:xfrm>
          <a:prstGeom prst="roundRect">
            <a:avLst>
              <a:gd name="adj" fmla="val 4987"/>
            </a:avLst>
          </a:prstGeom>
          <a:solidFill>
            <a:srgbClr val="3A5730"/>
          </a:solidFill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10173353" y="2103120"/>
            <a:ext cx="1466959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246505" y="2606040"/>
            <a:ext cx="1320655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&amp; Dashboard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264793" y="3337560"/>
            <a:ext cx="1284079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7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/predict + Streamlit live dashboard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real-time FastAPI backend with an in-memory sliding-window store drives feature computation without a database dependency.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· Capstone Project 1 · Group 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Complementary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3D3220">
                <a:alpha val="1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Isolation Forest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4505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Unsupervised anomaly detection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only on 'Normal' logins — no labelled attack data needed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93592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Flags unknown / zero-day anomalies via an anomaly score threshold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306824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— runs inline with each /predict request, no GPU needed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020056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Contamination threshold tuned via grid search on the validation set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5376672" cy="4160520"/>
          </a:xfrm>
          <a:prstGeom prst="roundRect">
            <a:avLst>
              <a:gd name="adj" fmla="val 2198"/>
            </a:avLst>
          </a:prstGeom>
          <a:solidFill>
            <a:srgbClr val="201C13"/>
          </a:solidFill>
          <a:effectLst>
            <a:outerShdw blurRad="76200" dist="25400" dir="5400000" algn="bl" rotWithShape="0">
              <a:srgbClr val="3D3220">
                <a:alpha val="1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6537960" y="2011680"/>
            <a:ext cx="548640" cy="548640"/>
          </a:xfrm>
          <a:prstGeom prst="ellipse">
            <a:avLst/>
          </a:prstGeom>
          <a:noFill/>
          <a:ln w="12700">
            <a:solidFill>
              <a:srgbClr val="4B6B3A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537960" y="20116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</a:t>
            </a:r>
            <a:endParaRPr lang="en-US" sz="1680" dirty="0"/>
          </a:p>
        </p:txBody>
      </p:sp>
      <p:sp>
        <p:nvSpPr>
          <p:cNvPr id="16" name="Text 14"/>
          <p:cNvSpPr/>
          <p:nvPr/>
        </p:nvSpPr>
        <p:spPr>
          <a:xfrm>
            <a:off x="7223760" y="2057400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223760" y="24505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Supervised, 5-class attack classification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37960" y="2880360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 trees, bagging over random feature subsets, 5-fold CV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593592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Outputs class probabilities across all 5 attack categories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4306824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feature importances for interpretability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5020056"/>
            <a:ext cx="48920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class_weight='balanced' + SMOTE to counter class imbalance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08076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Pipeline: Isolation Forest detects the outlier → Random Forest classifies the attack type.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· Capstone Project 1 · Group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Actual Evaluation Metrics (Test Set)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67665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543800" y="17830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APPROACH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543800" y="2148840"/>
            <a:ext cx="409651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7726680" y="2148840"/>
            <a:ext cx="3749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Held-out 15% stratified test set, evaluated after training + validation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543800" y="3044952"/>
            <a:ext cx="409651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7726680" y="3044952"/>
            <a:ext cx="3749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5-fold cross-validation used during Random Forest training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43800" y="3941064"/>
            <a:ext cx="409651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7726680" y="3941064"/>
            <a:ext cx="3749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Per-class ROC-AUC curves produced for all 5 attack classes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543800" y="4837176"/>
            <a:ext cx="409651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7726680" y="4837176"/>
            <a:ext cx="3749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set fine-tunes the Isolation Forest anomaly threshold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· Capstone Project 1 · Group 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12-Week Project Plan — Progress as of Week 7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417320" cy="704088"/>
          </a:xfrm>
          <a:prstGeom prst="roundRect">
            <a:avLst>
              <a:gd name="adj" fmla="val 10390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41732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Wk 1–4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103120" y="1874520"/>
            <a:ext cx="9537192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2331720" y="1929384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Initiation &amp; Literature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0" y="1929384"/>
            <a:ext cx="5806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Scoping, ML-IDS review, dataset selection, Week 4 proposal — Complete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417320" cy="704088"/>
          </a:xfrm>
          <a:prstGeom prst="roundRect">
            <a:avLst>
              <a:gd name="adj" fmla="val 10390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48640" y="2715768"/>
            <a:ext cx="141732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Wk 5–6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103120" y="2715768"/>
            <a:ext cx="9537192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 dirty="0">
              <a:highlight>
                <a:srgbClr val="FFFF00"/>
              </a:highlight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31720" y="2770632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&amp; Feature Engineering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2770632"/>
            <a:ext cx="5806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16,000 rows, engineer 11 </a:t>
            </a:r>
            <a:r>
              <a:rPr lang="en-US" sz="1050" dirty="0" err="1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behavioural</a:t>
            </a:r>
            <a:r>
              <a:rPr lang="en-US" sz="105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features — Complete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1417320" cy="704088"/>
          </a:xfrm>
          <a:prstGeom prst="roundRect">
            <a:avLst>
              <a:gd name="adj" fmla="val 10390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48640" y="3557016"/>
            <a:ext cx="141732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Wk 7–9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103120" y="3557016"/>
            <a:ext cx="9537192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2331720" y="361188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Development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15000" y="3611880"/>
            <a:ext cx="5806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Isolation Forest &amp; Random Forest; evaluate on 15% test set — Complete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98264"/>
            <a:ext cx="1417320" cy="704088"/>
          </a:xfrm>
          <a:prstGeom prst="roundRect">
            <a:avLst>
              <a:gd name="adj" fmla="val 10390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548640" y="4398264"/>
            <a:ext cx="141732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Wk 10–11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103120" y="4398264"/>
            <a:ext cx="9537192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2331720" y="4453128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System &amp; Dashboard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4453128"/>
            <a:ext cx="5806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/predict backend; Streamlit live dashboard — Prototype complete (ahead of schedule)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39512"/>
            <a:ext cx="1417320" cy="704088"/>
          </a:xfrm>
          <a:prstGeom prst="roundRect">
            <a:avLst>
              <a:gd name="adj" fmla="val 10390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548640" y="5239512"/>
            <a:ext cx="1417320" cy="7040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B6B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Wk 12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103120" y="5239512"/>
            <a:ext cx="9537192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effectLst>
            <a:outerShdw blurRad="50800" dist="12700" dir="5400000" algn="bl" rotWithShape="0">
              <a:srgbClr val="3D322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2331720" y="5294376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Report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15000" y="5294376"/>
            <a:ext cx="5806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report, presentation slides, team peer review — In progress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· Capstone Project 1 · Group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&amp;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A1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Contributions and Project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D322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749808" y="1947672"/>
            <a:ext cx="457200" cy="457200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49808" y="1947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Sabin Twayana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Leader — System Designer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324612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Architecture, </a:t>
            </a:r>
            <a:r>
              <a:rPr lang="en-US" sz="970" dirty="0" err="1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r>
              <a:rPr lang="en-US" sz="97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dashboard, feature engineering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25112" y="178308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D322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4526280" y="1947672"/>
            <a:ext cx="457200" cy="457200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26280" y="1947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02352" y="196596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Santosh Phuyal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02352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Developer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26280" y="2606040"/>
            <a:ext cx="324612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Isolation Forest &amp; Random Forest, FastAPI backend, evaluation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101584" y="1783080"/>
            <a:ext cx="363931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63500" dist="25400" dir="5400000" algn="bl" rotWithShape="0">
              <a:srgbClr val="3D322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8302752" y="1947672"/>
            <a:ext cx="457200" cy="457200"/>
          </a:xfrm>
          <a:prstGeom prst="ellipse">
            <a:avLst/>
          </a:prstGeom>
          <a:noFill/>
          <a:ln w="12700">
            <a:solidFill>
              <a:srgbClr val="3A5730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8302752" y="1947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78824" y="196596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Nayan Chaudhary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78824" y="22402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57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02752" y="2606040"/>
            <a:ext cx="324612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7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selection, sampling, Sections 1–5, Trello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201C13"/>
          </a:solidFill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868680" y="4160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46227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DE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two-model design is technically feasible and well supported: the RBA dataset's 33M+ authentication-specific records outperform UNSW-NB15 for this use case, and Isolation Forest + Random Forest form a complementary detect-then-classify pipeline.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" y="5257800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DE4D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1 research, design, and a working end-to-end prototype (both models trained, FastAPI + Streamlit deployed) are complete; Group 3 is on track for Capstone 2.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ICT537 · Capstone Project 1 · Group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A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C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1737360" y="64008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2926080" y="64008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4114800" y="64008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5303520" y="64008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6492240" y="64008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7680960" y="64008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8869680" y="64008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10058400" y="64008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11247120" y="6400800"/>
            <a:ext cx="36576" cy="36576"/>
          </a:xfrm>
          <a:prstGeom prst="ellipse">
            <a:avLst/>
          </a:prstGeom>
          <a:solidFill>
            <a:srgbClr val="4B6B3A"/>
          </a:solidFill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591556" y="1965960"/>
            <a:ext cx="1005840" cy="1005840"/>
          </a:xfrm>
          <a:prstGeom prst="ellipse">
            <a:avLst/>
          </a:prstGeom>
          <a:noFill/>
          <a:ln w="12700">
            <a:solidFill>
              <a:srgbClr val="4B6B3A"/>
            </a:solidFill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5591556" y="196596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01C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0" y="3246120"/>
            <a:ext cx="121889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4B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0" y="512064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C9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3  ·  Sabin Twayana · Santosh Phuyal · Nayan Chaudhary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C8F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Supervisor: Sabira Khatun  |  Gateway Business College  |  ICT537 Capstone Project 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1589</Words>
  <Application>Microsoft Office PowerPoint</Application>
  <PresentationFormat>Widescreen</PresentationFormat>
  <Paragraphs>266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Sabin Twayana</cp:lastModifiedBy>
  <cp:revision>5</cp:revision>
  <dcterms:created xsi:type="dcterms:W3CDTF">2026-07-15T05:30:00Z</dcterms:created>
  <dcterms:modified xsi:type="dcterms:W3CDTF">2026-07-16T03:56:33Z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B3B9DAB3F2484AE584082C3D7DF603C5_13</vt:lpwstr>
  </property>
  <property fmtid="{D5CDD505-2E9C-101B-9397-08002B2CF9AE}" pid="3" name="KSOProductBuildVer">
    <vt:lpwstr>1033-12.1.0.26880</vt:lpwstr>
  </property>
</Properties>
</file>